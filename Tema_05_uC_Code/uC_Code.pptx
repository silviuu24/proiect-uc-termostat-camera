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71" r:id="rId5"/>
    <p:sldId id="258" r:id="rId6"/>
    <p:sldId id="259" r:id="rId7"/>
    <p:sldId id="270" r:id="rId8"/>
    <p:sldId id="260" r:id="rId9"/>
    <p:sldId id="262" r:id="rId10"/>
    <p:sldId id="272" r:id="rId11"/>
    <p:sldId id="273" r:id="rId12"/>
    <p:sldId id="27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Sistem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de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Achiziție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,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Procesare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și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Afișare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a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Temperaturii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folosind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sz="4800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Microcontrolerul</a:t>
            </a:r>
            <a:r>
              <a:rPr lang="en-US" sz="4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 8051</a:t>
            </a:r>
            <a:endParaRPr lang="en-US" sz="48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Șișca Silviu-Claudiu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An III, gr. 2133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76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Cuprins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69623"/>
            <a:ext cx="10018713" cy="3621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proiectului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 Diagrama bloc de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funcționare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es-ES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 </a:t>
            </a:r>
            <a:r>
              <a:rPr lang="es-E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Preluarea</a:t>
            </a:r>
            <a:r>
              <a:rPr lang="es-E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s-E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datelor</a:t>
            </a:r>
            <a:r>
              <a:rPr lang="es-E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de la </a:t>
            </a:r>
            <a:r>
              <a:rPr lang="es-E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ADC</a:t>
            </a:r>
          </a:p>
          <a:p>
            <a:pPr marL="0" indent="0">
              <a:buNone/>
            </a:pP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4.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Interpretarea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datelor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5. Afișarea datelor pe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LCD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6.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Simulări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  1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Cerința proiectului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Cod C &amp; Assembly</a:t>
            </a:r>
            <a:endParaRPr lang="ro-RO" sz="28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sz="2800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Preluarea</a:t>
            </a:r>
            <a:r>
              <a:rPr lang="en-US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, </a:t>
            </a:r>
            <a:r>
              <a:rPr lang="en-US" sz="2800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interpretarea</a:t>
            </a:r>
            <a:r>
              <a:rPr lang="en-US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ro-RO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 afișarea datelor</a:t>
            </a:r>
            <a:endParaRPr lang="en-US" sz="28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Diagrama bloc de funcționare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666999"/>
            <a:ext cx="8923224" cy="3124201"/>
          </a:xfrm>
        </p:spPr>
        <p:txBody>
          <a:bodyPr>
            <a:normAutofit/>
          </a:bodyPr>
          <a:lstStyle/>
          <a:p>
            <a:r>
              <a:rPr lang="ro-RO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 etape principale</a:t>
            </a:r>
          </a:p>
          <a:p>
            <a:pPr lvl="1"/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Etapa de inițializare</a:t>
            </a:r>
          </a:p>
          <a:p>
            <a:pPr lvl="1"/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Bucla principală de funcționare</a:t>
            </a: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2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299" y="73129"/>
            <a:ext cx="2626801" cy="61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8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3. Preluarea datelor de la ADC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7558" y="2339339"/>
            <a:ext cx="5590796" cy="2346961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484311" y="2666999"/>
            <a:ext cx="8923224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o-RO" sz="28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pași consecutivi</a:t>
            </a:r>
          </a:p>
          <a:p>
            <a:pPr lvl="1"/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Începere conversie</a:t>
            </a:r>
          </a:p>
          <a:p>
            <a:pPr lvl="1"/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Polling pin întrerupere</a:t>
            </a:r>
          </a:p>
          <a:p>
            <a:pPr lvl="1"/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Activare ieșire ADC &amp; citire date</a:t>
            </a: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18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4. Interpretarea datelor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1484311" y="2666999"/>
                <a:ext cx="4832669" cy="312420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i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</a:t>
                </a:r>
                <a:r>
                  <a:rPr lang="ro-RO" sz="240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∈</a:t>
                </a:r>
                <a:r>
                  <a:rPr lang="en-US" sz="240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[0; 255]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emp</m:t>
                    </m:r>
                  </m:oMath>
                </a14:m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</a:t>
                </a:r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∈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[</a:t>
                </a:r>
                <a:r>
                  <a:rPr lang="en-US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0; 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40] °C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zecimi</m:t>
                        </m:r>
                      </m:sub>
                    </m:sSub>
                  </m:oMath>
                </a14:m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ADC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∗400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ADC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zecimi</m:t>
                        </m:r>
                      </m:sub>
                    </m:sSub>
                  </m:oMath>
                </a14:m>
                <a:r>
                  <a:rPr lang="ro-RO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∈</a:t>
                </a:r>
                <a:r>
                  <a:rPr lang="en-US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[0; 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400]</a:t>
                </a:r>
                <a:endParaRPr lang="en-US" sz="2400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:endParaRPr lang="ro-RO" sz="2400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11" y="2666999"/>
                <a:ext cx="4832669" cy="3124201"/>
              </a:xfrm>
              <a:prstGeom prst="rect">
                <a:avLst/>
              </a:prstGeom>
              <a:blipFill>
                <a:blip r:embed="rId2"/>
                <a:stretch>
                  <a:fillRect l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050280" y="2666999"/>
                <a:ext cx="57759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sz="360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EX</a:t>
                </a:r>
                <a:r>
                  <a:rPr lang="en-US" sz="360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zecimi</m:t>
                        </m:r>
                      </m:sub>
                    </m:sSub>
                  </m:oMath>
                </a14:m>
                <a:r>
                  <a:rPr lang="en-US" sz="360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=  256 =&gt; 25.6</a:t>
                </a:r>
                <a:r>
                  <a:rPr lang="en-US" sz="3600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°C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280" y="2666999"/>
                <a:ext cx="5775960" cy="646331"/>
              </a:xfrm>
              <a:prstGeom prst="rect">
                <a:avLst/>
              </a:prstGeom>
              <a:blipFill>
                <a:blip r:embed="rId3"/>
                <a:stretch>
                  <a:fillRect l="-3273" t="-14953" r="-2746" b="-3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730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Afi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șarea datelor pe LCD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1484311" y="2666999"/>
                <a:ext cx="8923224" cy="312420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ro-RO" b="0" i="0" smtClean="0">
                        <a:latin typeface="Cambria Math" panose="02040503050406030204" pitchFamily="18" charset="0"/>
                      </a:rPr>
                      <m:t>ormatare</m:t>
                    </m:r>
                    <m:r>
                      <a:rPr lang="ro-RO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b="0" i="0" smtClean="0">
                        <a:latin typeface="Cambria Math" panose="02040503050406030204" pitchFamily="18" charset="0"/>
                      </a:rPr>
                      <m:t>ASCII</m:t>
                    </m:r>
                  </m:oMath>
                </a14:m>
                <a:endParaRPr lang="en-US" b="0" dirty="0" smtClean="0">
                  <a:latin typeface="Mongolian Baiti" panose="03000500000000000000" pitchFamily="66" charset="0"/>
                </a:endParaRPr>
              </a:p>
              <a:p>
                <a:r>
                  <a:rPr lang="en-US" b="0" dirty="0" err="1" smtClean="0">
                    <a:latin typeface="Mongolian Baiti" panose="03000500000000000000" pitchFamily="66" charset="0"/>
                  </a:rPr>
                  <a:t>Inserarea</a:t>
                </a:r>
                <a:r>
                  <a:rPr lang="en-US" b="0" dirty="0" smtClean="0">
                    <a:latin typeface="Mongolian Baiti" panose="03000500000000000000" pitchFamily="66" charset="0"/>
                  </a:rPr>
                  <a:t> </a:t>
                </a:r>
                <a:r>
                  <a:rPr lang="en-US" b="0" dirty="0" err="1" smtClean="0">
                    <a:latin typeface="Mongolian Baiti" panose="03000500000000000000" pitchFamily="66" charset="0"/>
                  </a:rPr>
                  <a:t>caracterului</a:t>
                </a:r>
                <a:r>
                  <a:rPr lang="en-US" b="0" dirty="0" smtClean="0">
                    <a:latin typeface="Mongolian Baiti" panose="03000500000000000000" pitchFamily="66" charset="0"/>
                  </a:rPr>
                  <a:t> ‘.’</a:t>
                </a:r>
              </a:p>
              <a:p>
                <a:r>
                  <a:rPr lang="en-US" b="0" dirty="0" err="1" smtClean="0">
                    <a:latin typeface="Mongolian Baiti" panose="03000500000000000000" pitchFamily="66" charset="0"/>
                  </a:rPr>
                  <a:t>Afi</a:t>
                </a:r>
                <a:r>
                  <a:rPr lang="ro-RO" dirty="0" smtClean="0">
                    <a:latin typeface="Mongolian Baiti" panose="03000500000000000000" pitchFamily="66" charset="0"/>
                  </a:rPr>
                  <a:t>șare </a:t>
                </a:r>
                <a:r>
                  <a:rPr lang="en-US" dirty="0" smtClean="0">
                    <a:latin typeface="Mongolian Baiti" panose="03000500000000000000" pitchFamily="66" charset="0"/>
                  </a:rPr>
                  <a:t>‘ ’ </a:t>
                </a:r>
                <a:r>
                  <a:rPr lang="ro-RO" dirty="0" smtClean="0">
                    <a:latin typeface="Mongolian Baiti" panose="03000500000000000000" pitchFamily="66" charset="0"/>
                  </a:rPr>
                  <a:t>în loc de </a:t>
                </a:r>
                <a:r>
                  <a:rPr lang="en-US" dirty="0" smtClean="0">
                    <a:latin typeface="Mongolian Baiti" panose="03000500000000000000" pitchFamily="66" charset="0"/>
                  </a:rPr>
                  <a:t>‘0’ </a:t>
                </a:r>
                <a:r>
                  <a:rPr lang="en-US" dirty="0" err="1" smtClean="0">
                    <a:latin typeface="Mongolian Baiti" panose="03000500000000000000" pitchFamily="66" charset="0"/>
                  </a:rPr>
                  <a:t>dac</a:t>
                </a:r>
                <a:r>
                  <a:rPr lang="ro-RO" dirty="0" smtClean="0">
                    <a:latin typeface="Mongolian Baiti" panose="03000500000000000000" pitchFamily="66" charset="0"/>
                  </a:rPr>
                  <a:t>ă Temp</a:t>
                </a:r>
                <a:r>
                  <a:rPr lang="en-US" dirty="0" smtClean="0">
                    <a:latin typeface="Mongolian Baiti" panose="03000500000000000000" pitchFamily="66" charset="0"/>
                  </a:rPr>
                  <a:t> &lt; 10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</a:t>
                </a:r>
                <a:r>
                  <a:rPr lang="en-US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°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C</a:t>
                </a:r>
              </a:p>
              <a:p>
                <a:pPr lvl="2"/>
                <a:r>
                  <a:rPr lang="en-US" b="0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Ex: Temp=5.6</a:t>
                </a:r>
                <a:r>
                  <a:rPr lang="en-US" dirty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°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C, </a:t>
                </a:r>
                <a:r>
                  <a:rPr lang="en-US" dirty="0" err="1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afi</a:t>
                </a:r>
                <a:r>
                  <a:rPr lang="ro-RO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șăm </a:t>
                </a:r>
                <a:r>
                  <a:rPr lang="en-US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“ 5.6”, nu “05.6”</a:t>
                </a:r>
                <a:endParaRPr lang="en-US" b="0" dirty="0" smtClean="0">
                  <a:latin typeface="Mongolian Baiti" panose="03000500000000000000" pitchFamily="66" charset="0"/>
                </a:endParaRPr>
              </a:p>
            </p:txBody>
          </p:sp>
        </mc:Choice>
        <mc:Fallback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11" y="2666999"/>
                <a:ext cx="8923224" cy="3124201"/>
              </a:xfrm>
              <a:prstGeom prst="rect">
                <a:avLst/>
              </a:prstGeom>
              <a:blipFill>
                <a:blip r:embed="rId2"/>
                <a:stretch>
                  <a:fillRect l="-1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90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6. Simulări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0105"/>
              </p:ext>
            </p:extLst>
          </p:nvPr>
        </p:nvGraphicFramePr>
        <p:xfrm>
          <a:off x="1982124" y="2831099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08481577"/>
                    </a:ext>
                  </a:extLst>
                </a:gridCol>
                <a:gridCol w="3126663">
                  <a:extLst>
                    <a:ext uri="{9D8B030D-6E8A-4147-A177-3AD203B41FA5}">
                      <a16:colId xmlns:a16="http://schemas.microsoft.com/office/drawing/2014/main" val="949276067"/>
                    </a:ext>
                  </a:extLst>
                </a:gridCol>
                <a:gridCol w="2292003">
                  <a:extLst>
                    <a:ext uri="{9D8B030D-6E8A-4147-A177-3AD203B41FA5}">
                      <a16:colId xmlns:a16="http://schemas.microsoft.com/office/drawing/2014/main" val="1957241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b="1" dirty="0" err="1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Temperatură</a:t>
                      </a:r>
                      <a:r>
                        <a:rPr lang="en-US" sz="1800" b="1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Senzor</a:t>
                      </a:r>
                      <a:r>
                        <a:rPr lang="en-US" sz="1800" b="1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 [</a:t>
                      </a:r>
                      <a:r>
                        <a:rPr lang="ro-RO" sz="1800" b="1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°C</a:t>
                      </a:r>
                      <a:r>
                        <a:rPr lang="en-US" sz="1800" b="1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]</a:t>
                      </a:r>
                      <a:endParaRPr lang="en-US" sz="16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b="1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Temperatură Afișată pe LCD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b="1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Eroare [</a:t>
                      </a:r>
                      <a:r>
                        <a:rPr lang="ro-RO" sz="1800" b="1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°C</a:t>
                      </a:r>
                      <a:r>
                        <a:rPr lang="en-US" sz="1800" b="1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]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693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16.0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16.0</a:t>
                      </a:r>
                      <a:endParaRPr lang="en-US" sz="16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0.0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48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16.2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16.1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- 0.1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9165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16.4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16.4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0.0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16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16.6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16.6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0.0</a:t>
                      </a:r>
                      <a:endParaRPr lang="en-US" sz="16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9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16.8</a:t>
                      </a:r>
                      <a:endParaRPr lang="en-US" sz="16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16.7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- 0.1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797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17.0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17.0</a:t>
                      </a:r>
                      <a:endParaRPr lang="en-US" sz="16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en-US" sz="1800" dirty="0">
                          <a:effectLst/>
                          <a:latin typeface="Mongolian Baiti" panose="03000500000000000000" pitchFamily="66" charset="0"/>
                          <a:ea typeface="Times New Roman" panose="02020603050405020304" pitchFamily="18" charset="0"/>
                          <a:cs typeface="Mongolian Baiti" panose="03000500000000000000" pitchFamily="66" charset="0"/>
                        </a:rPr>
                        <a:t>0.0</a:t>
                      </a:r>
                      <a:endParaRPr lang="en-US" sz="16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3463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562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6. Simulări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80971" y="1962784"/>
            <a:ext cx="8625392" cy="440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7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/>
          <p:nvPr/>
        </p:nvPicPr>
        <p:blipFill rotWithShape="1">
          <a:blip r:embed="rId2"/>
          <a:srcRect l="83997" b="72073"/>
          <a:stretch/>
        </p:blipFill>
        <p:spPr>
          <a:xfrm>
            <a:off x="7130762" y="4311172"/>
            <a:ext cx="2150625" cy="18883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6. Simulări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3"/>
          <a:srcRect l="83185" b="72292"/>
          <a:stretch/>
        </p:blipFill>
        <p:spPr>
          <a:xfrm>
            <a:off x="2441348" y="1936140"/>
            <a:ext cx="2257270" cy="1882486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 rotWithShape="1">
          <a:blip r:embed="rId4"/>
          <a:srcRect l="83681" b="72486"/>
          <a:stretch/>
        </p:blipFill>
        <p:spPr>
          <a:xfrm>
            <a:off x="5715536" y="1946472"/>
            <a:ext cx="2190997" cy="1882486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 rotWithShape="1">
          <a:blip r:embed="rId5"/>
          <a:srcRect l="84240" b="72298"/>
          <a:stretch/>
        </p:blipFill>
        <p:spPr>
          <a:xfrm>
            <a:off x="8923451" y="1936140"/>
            <a:ext cx="2115148" cy="1894294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 rotWithShape="1">
          <a:blip r:embed="rId6"/>
          <a:srcRect l="84092" b="71859"/>
          <a:stretch/>
        </p:blipFill>
        <p:spPr>
          <a:xfrm>
            <a:off x="4086017" y="4311172"/>
            <a:ext cx="2087709" cy="188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7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Concluzii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84311" y="2666999"/>
            <a:ext cx="8923224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 err="1" smtClean="0">
                <a:latin typeface="Mongolian Baiti" panose="03000500000000000000" pitchFamily="66" charset="0"/>
              </a:rPr>
              <a:t>Obiectiv</a:t>
            </a:r>
            <a:r>
              <a:rPr lang="en-US" b="0" dirty="0" smtClean="0">
                <a:latin typeface="Mongolian Baiti" panose="03000500000000000000" pitchFamily="66" charset="0"/>
              </a:rPr>
              <a:t> </a:t>
            </a:r>
            <a:r>
              <a:rPr lang="ro-RO" b="0" dirty="0" smtClean="0">
                <a:latin typeface="Mongolian Baiti" panose="03000500000000000000" pitchFamily="66" charset="0"/>
              </a:rPr>
              <a:t>îndeplinit cu succes</a:t>
            </a:r>
          </a:p>
          <a:p>
            <a:r>
              <a:rPr lang="ro-RO" dirty="0" smtClean="0">
                <a:latin typeface="Mongolian Baiti" panose="03000500000000000000" pitchFamily="66" charset="0"/>
              </a:rPr>
              <a:t>Eroare de ±0.1°C datorată ADC-ului pe 8 biți</a:t>
            </a:r>
            <a:endParaRPr lang="en-US" b="0" dirty="0" smtClean="0">
              <a:latin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88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o-RO" sz="6000" b="1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Vă mulțumesc pentru atenție!</a:t>
            </a:r>
            <a:endParaRPr lang="en-US" sz="60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16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233</TotalTime>
  <Words>224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Corbel</vt:lpstr>
      <vt:lpstr>Mongolian Baiti</vt:lpstr>
      <vt:lpstr>Times New Roman</vt:lpstr>
      <vt:lpstr>Parallax</vt:lpstr>
      <vt:lpstr>Sistem de Achiziție, Procesare și Afișare a Temperaturii folosind Microcontrolerul 8051</vt:lpstr>
      <vt:lpstr>Cuprins</vt:lpstr>
      <vt:lpstr>   1. Cerința proiectului</vt:lpstr>
      <vt:lpstr>2. Diagrama bloc de funcționare</vt:lpstr>
      <vt:lpstr>PowerPoint Presentation</vt:lpstr>
      <vt:lpstr>3. Preluarea datelor de la ADC</vt:lpstr>
      <vt:lpstr>4. Interpretarea datelor</vt:lpstr>
      <vt:lpstr>5. Afișarea datelor pe LCD</vt:lpstr>
      <vt:lpstr>6. Simulări</vt:lpstr>
      <vt:lpstr>6. Simulări</vt:lpstr>
      <vt:lpstr>6. Simulări</vt:lpstr>
      <vt:lpstr>7. Concluzii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achiziție, condiționare și afișare a temperaturii</dc:title>
  <dc:creator>Silviu</dc:creator>
  <cp:lastModifiedBy>Silviu</cp:lastModifiedBy>
  <cp:revision>26</cp:revision>
  <dcterms:created xsi:type="dcterms:W3CDTF">2026-04-01T14:42:38Z</dcterms:created>
  <dcterms:modified xsi:type="dcterms:W3CDTF">2026-05-13T14:54:34Z</dcterms:modified>
</cp:coreProperties>
</file>