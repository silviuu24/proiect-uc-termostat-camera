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70" r:id="rId7"/>
    <p:sldId id="260" r:id="rId8"/>
    <p:sldId id="262" r:id="rId9"/>
    <p:sldId id="267" r:id="rId10"/>
    <p:sldId id="266" r:id="rId11"/>
    <p:sldId id="263" r:id="rId12"/>
    <p:sldId id="268" r:id="rId13"/>
    <p:sldId id="269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lldatasheet.com/html-pdf/706069/TSC/1N5222B/54/1/1N5222B.html" TargetMode="External"/><Relationship Id="rId3" Type="http://schemas.openxmlformats.org/officeDocument/2006/relationships/hyperlink" Target="https://ww1.microchip.com/downloads/en/devicedoc/39582b.pdf" TargetMode="External"/><Relationship Id="rId7" Type="http://schemas.openxmlformats.org/officeDocument/2006/relationships/hyperlink" Target="https://www.onsemi.com/pdf/datasheet/tip32c-d.pdf" TargetMode="External"/><Relationship Id="rId2" Type="http://schemas.openxmlformats.org/officeDocument/2006/relationships/hyperlink" Target="https://ww1.microchip.com/downloads/en/DeviceDoc/Atmel-7810-Automotive-Microcontrollers-ATmega328P_Datashee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nsemi.com/download/data-sheet/pdf/tip31a-d.pdf" TargetMode="External"/><Relationship Id="rId5" Type="http://schemas.openxmlformats.org/officeDocument/2006/relationships/hyperlink" Target="https://www.ti.com/lit/an/slva477b/slva477b.pdf" TargetMode="External"/><Relationship Id="rId4" Type="http://schemas.openxmlformats.org/officeDocument/2006/relationships/hyperlink" Target="https://www.ti.com/lit/ds/symlink/lm358.pdf" TargetMode="External"/><Relationship Id="rId9" Type="http://schemas.openxmlformats.org/officeDocument/2006/relationships/hyperlink" Target="https://ww1.microchip.com/downloads/en/DeviceDoc/doc4113.pdf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Etaje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de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Alimentare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 Analiza Microcontrolerelor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Nume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Șișca Silviu-Claudiu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An III, gr. 2133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76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Cuprins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169623"/>
            <a:ext cx="10018713" cy="362157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proiectului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Etaje de alimentare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Topologii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Stabilizatorul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liniar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2.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Convertor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în comutație - Buck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2.3. Alegerea topologiei optime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Analiza microcontrolerelor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.1. Intel 8051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.2. ATmega328P	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.3. PIC16F877A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pPr marL="0" indent="0">
              <a:buNone/>
            </a:pP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3.4. Alegerea microcontrolerului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4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Bibliografie</a:t>
            </a:r>
          </a:p>
        </p:txBody>
      </p:sp>
    </p:spTree>
    <p:extLst>
      <p:ext uri="{BB962C8B-B14F-4D97-AF65-F5344CB8AC3E}">
        <p14:creationId xmlns:p14="http://schemas.microsoft.com/office/powerpoint/2010/main" val="8416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1. Cerința proiectului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Studiul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topologiilor etajelor de alimentare ( 9V </a:t>
            </a:r>
            <a:r>
              <a:rPr lang="ro-R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5V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)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Analiza microcontrolerelor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8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 Etaje de alimentare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Topologii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1" y="2666999"/>
            <a:ext cx="8923224" cy="3124201"/>
          </a:xfrm>
        </p:spPr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Stabilizatoare liniare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Convertoare coborâtoare în comutație - Buck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6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.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1.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Stabilizatorul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liniar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2471" y="1910540"/>
            <a:ext cx="4670553" cy="383355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1484311" y="2666999"/>
                <a:ext cx="5348160" cy="3124201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𝑉</m:t>
                        </m:r>
                      </m:e>
                      <m:sub>
                        <m:r>
                          <a:rPr lang="fr-FR" i="1"/>
                          <m:t>𝑜𝑢𝑡</m:t>
                        </m:r>
                      </m:sub>
                    </m:sSub>
                    <m:r>
                      <a:rPr lang="fr-FR" i="1"/>
                      <m:t>=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𝑉</m:t>
                        </m:r>
                      </m:e>
                      <m:sub>
                        <m:r>
                          <a:rPr lang="fr-FR" i="1"/>
                          <m:t>𝑅𝐸𝐹</m:t>
                        </m:r>
                      </m:sub>
                    </m:sSub>
                    <m:r>
                      <a:rPr lang="fr-FR" i="1"/>
                      <m:t>(1+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fr-FR" i="1"/>
                              <m:t>𝑅</m:t>
                            </m:r>
                          </m:e>
                          <m:sub>
                            <m:r>
                              <a:rPr lang="fr-FR" i="1"/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fr-FR" i="1"/>
                              <m:t>𝑅</m:t>
                            </m:r>
                          </m:e>
                          <m:sub>
                            <m:r>
                              <a:rPr lang="fr-FR" i="1"/>
                              <m:t>1</m:t>
                            </m:r>
                          </m:sub>
                        </m:sSub>
                        <m:r>
                          <a:rPr lang="fr-FR" i="1"/>
                          <m:t>+</m:t>
                        </m:r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fr-FR" i="1"/>
                              <m:t>𝑅𝑉</m:t>
                            </m:r>
                          </m:e>
                          <m:sub>
                            <m:r>
                              <a:rPr lang="fr-FR" i="1"/>
                              <m:t>1</m:t>
                            </m:r>
                            <m:r>
                              <a:rPr lang="fr-FR" i="1"/>
                              <m:t>𝑠𝑒𝑡</m:t>
                            </m:r>
                          </m:sub>
                        </m:sSub>
                      </m:den>
                    </m:f>
                    <m:r>
                      <a:rPr lang="fr-FR" i="1"/>
                      <m:t>)</m:t>
                    </m:r>
                  </m:oMath>
                </a14:m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14:m>
                  <m:oMath xmlns:m="http://schemas.openxmlformats.org/officeDocument/2006/math">
                    <m:r>
                      <a:rPr lang="fr-FR" i="1"/>
                      <m:t>𝜂</m:t>
                    </m:r>
                    <m:r>
                      <a:rPr lang="fr-FR" i="1"/>
                      <m:t> ≈55.5%</m:t>
                    </m:r>
                  </m:oMath>
                </a14:m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𝑃</m:t>
                        </m:r>
                      </m:e>
                      <m:sub>
                        <m:r>
                          <a:rPr lang="fr-FR" i="1"/>
                          <m:t>𝑑</m:t>
                        </m:r>
                      </m:sub>
                    </m:sSub>
                    <m:r>
                      <a:rPr lang="fr-FR" i="1"/>
                      <m:t>=0.28</m:t>
                    </m:r>
                    <m:r>
                      <a:rPr lang="fr-FR" i="1"/>
                      <m:t>𝑊</m:t>
                    </m:r>
                  </m:oMath>
                </a14:m>
                <a:endParaRPr lang="ro-RO" dirty="0" smtClean="0">
                  <a:latin typeface="Mongolian Baiti" panose="03000500000000000000" pitchFamily="66" charset="0"/>
                  <a:cs typeface="Mongolian Baiti" panose="03000500000000000000" pitchFamily="66" charset="0"/>
                </a:endParaRPr>
              </a:p>
            </p:txBody>
          </p:sp>
        </mc:Choice>
        <mc:Fallback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311" y="2666999"/>
                <a:ext cx="5348160" cy="3124201"/>
              </a:xfrm>
              <a:prstGeom prst="rect">
                <a:avLst/>
              </a:prstGeom>
              <a:blipFill>
                <a:blip r:embed="rId3"/>
                <a:stretch>
                  <a:fillRect l="-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18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.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1.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Stabilizatorul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 err="1">
                <a:latin typeface="Mongolian Baiti" panose="03000500000000000000" pitchFamily="66" charset="0"/>
                <a:cs typeface="Mongolian Baiti" panose="03000500000000000000" pitchFamily="66" charset="0"/>
              </a:rPr>
              <a:t>liniar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2629" y="1841244"/>
            <a:ext cx="5442076" cy="418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30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2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.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en-US" dirty="0">
                <a:latin typeface="Mongolian Baiti" panose="03000500000000000000" pitchFamily="66" charset="0"/>
                <a:cs typeface="Mongolian Baiti" panose="03000500000000000000" pitchFamily="66" charset="0"/>
              </a:rPr>
              <a:t>Convertor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în comutație - Buck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122218" y="2438399"/>
                <a:ext cx="4937044" cy="335280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ro-RO" i="1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= 90%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ro-RO" i="1" dirty="0" smtClean="0">
                    <a:latin typeface="Mongolian Baiti" panose="03000500000000000000" pitchFamily="66" charset="0"/>
                    <a:cs typeface="Mongolian Baiti" panose="03000500000000000000" pitchFamily="66" charset="0"/>
                  </a:rPr>
                  <a:t> = 20kHz</a:t>
                </a:r>
              </a:p>
              <a:p>
                <a14:m>
                  <m:oMath xmlns:m="http://schemas.openxmlformats.org/officeDocument/2006/math">
                    <m:r>
                      <a:rPr lang="fr-FR" i="1"/>
                      <m:t>𝐷</m:t>
                    </m:r>
                    <m:r>
                      <a:rPr lang="fr-FR" i="1"/>
                      <m:t>≈61.7%</m:t>
                    </m:r>
                  </m:oMath>
                </a14:m>
                <a:endParaRPr lang="ro-RO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∆</m:t>
                        </m:r>
                        <m:r>
                          <a:rPr lang="fr-FR" i="1"/>
                          <m:t>𝑉</m:t>
                        </m:r>
                      </m:e>
                      <m:sub>
                        <m:r>
                          <a:rPr lang="fr-FR" i="1"/>
                          <m:t>𝑜𝑢𝑡</m:t>
                        </m:r>
                      </m:sub>
                    </m:sSub>
                    <m:r>
                      <a:rPr lang="fr-FR" i="1"/>
                      <m:t>=50</m:t>
                    </m:r>
                    <m:r>
                      <a:rPr lang="fr-FR" i="1"/>
                      <m:t>𝑚𝑉</m:t>
                    </m:r>
                  </m:oMath>
                </a14:m>
                <a:endParaRPr lang="ro-RO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fr-FR" i="1"/>
                          <m:t>𝑃</m:t>
                        </m:r>
                      </m:e>
                      <m:sub>
                        <m:r>
                          <a:rPr lang="fr-FR" i="1"/>
                          <m:t>𝑑</m:t>
                        </m:r>
                      </m:sub>
                    </m:sSub>
                    <m:r>
                      <a:rPr lang="fr-FR" i="1"/>
                      <m:t>≈0.035</m:t>
                    </m:r>
                    <m:r>
                      <a:rPr lang="fr-FR" i="1"/>
                      <m:t>𝑊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2218" y="2438399"/>
                <a:ext cx="4937044" cy="3352801"/>
              </a:xfrm>
              <a:blipFill>
                <a:blip r:embed="rId2"/>
                <a:stretch>
                  <a:fillRect l="-3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059262" y="2438399"/>
            <a:ext cx="5535200" cy="244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00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2.3. Alegerea topologiei optime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4296958"/>
                  </p:ext>
                </p:extLst>
              </p:nvPr>
            </p:nvGraphicFramePr>
            <p:xfrm>
              <a:off x="1982124" y="2831099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0848157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94927606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57241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Stabilizator Liniar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Convertor Buck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69345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Putere disipată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0.28W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0.035W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84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Eficiență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55.5%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90%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165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Ripple de tensiune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NU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50</m:t>
                                </m:r>
                                <m:r>
                                  <a:rPr lang="fr-FR" sz="180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𝑚𝑉</m:t>
                                </m:r>
                              </m:oMath>
                            </m:oMathPara>
                          </a14:m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21670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4296958"/>
                  </p:ext>
                </p:extLst>
              </p:nvPr>
            </p:nvGraphicFramePr>
            <p:xfrm>
              <a:off x="1982124" y="2831099"/>
              <a:ext cx="8127999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0848157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949276067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1957241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Stabilizator Liniar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Convertor Buck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69345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Putere disipată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0.28W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0.035W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84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Eficiență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55.5%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90%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1650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Ripple de tensiune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o-RO" dirty="0" smtClean="0">
                              <a:latin typeface="Mongolian Baiti" panose="03000500000000000000" pitchFamily="66" charset="0"/>
                              <a:cs typeface="Mongolian Baiti" panose="03000500000000000000" pitchFamily="66" charset="0"/>
                            </a:rPr>
                            <a:t>NU</a:t>
                          </a:r>
                          <a:endParaRPr lang="en-US" dirty="0">
                            <a:latin typeface="Mongolian Baiti" panose="03000500000000000000" pitchFamily="66" charset="0"/>
                            <a:cs typeface="Mongolian Baiti" panose="03000500000000000000" pitchFamily="66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08197" r="-89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216702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6456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 Analiza microcontrolerelor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Intel 8051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ATmega328P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PIC16F877A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580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3.1. Intel 8051</a:t>
            </a:r>
          </a:p>
        </p:txBody>
      </p:sp>
      <p:pic>
        <p:nvPicPr>
          <p:cNvPr id="5" name="Picture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66" r="17966"/>
          <a:stretch/>
        </p:blipFill>
        <p:spPr>
          <a:xfrm>
            <a:off x="7315200" y="2438399"/>
            <a:ext cx="4187824" cy="3347332"/>
          </a:xfrm>
          <a:prstGeom prst="rect">
            <a:avLst/>
          </a:prstGeom>
        </p:spPr>
      </p:pic>
      <p:sp>
        <p:nvSpPr>
          <p:cNvPr id="7" name="Content Placeholder 4"/>
          <p:cNvSpPr>
            <a:spLocks noGrp="1"/>
          </p:cNvSpPr>
          <p:nvPr>
            <p:ph idx="1"/>
          </p:nvPr>
        </p:nvSpPr>
        <p:spPr>
          <a:xfrm>
            <a:off x="1484311" y="2438400"/>
            <a:ext cx="5830890" cy="3347332"/>
          </a:xfrm>
        </p:spPr>
        <p:txBody>
          <a:bodyPr>
            <a:normAutofit fontScale="92500" lnSpcReduction="20000"/>
          </a:bodyPr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CISC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(Complex Instruction Set </a:t>
            </a: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Computer)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Arhitectură pe 8 biți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Flash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4KB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RAM: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128B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Frecven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ță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12 MHz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Porturi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I/O: 4</a:t>
            </a:r>
          </a:p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Timere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– 16 bi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Un port serial - UART</a:t>
            </a:r>
          </a:p>
          <a:p>
            <a:pPr marL="0" indent="0">
              <a:buNone/>
            </a:pP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99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3.2. ATmega328P	</a:t>
            </a: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519" y="2438399"/>
            <a:ext cx="4562504" cy="3271781"/>
          </a:xfrm>
          <a:prstGeom prst="rect">
            <a:avLst/>
          </a:prstGeom>
        </p:spPr>
      </p:pic>
      <p:sp>
        <p:nvSpPr>
          <p:cNvPr id="8" name="Content Placeholder 4"/>
          <p:cNvSpPr txBox="1">
            <a:spLocks/>
          </p:cNvSpPr>
          <p:nvPr/>
        </p:nvSpPr>
        <p:spPr>
          <a:xfrm>
            <a:off x="1484311" y="2438399"/>
            <a:ext cx="5830890" cy="3347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R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ISC (Reduced Instruction Set Computer)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Arhitectură pe 8 biți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Flash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32KB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RAM: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2KB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EEPROM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1KB</a:t>
            </a:r>
          </a:p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Frecven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ță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16 MHz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Porturi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I/O: 3</a:t>
            </a:r>
          </a:p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Timere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– 1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-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16 bi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                      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-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8 bi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ADC integrat</a:t>
            </a:r>
          </a:p>
          <a:p>
            <a:pPr marL="0" indent="0">
              <a:buFont typeface="Arial"/>
              <a:buNone/>
            </a:pP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245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3.3. PIC16F877A</a:t>
            </a:r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305" y="2438399"/>
            <a:ext cx="4363719" cy="3833466"/>
          </a:xfrm>
          <a:prstGeom prst="rect">
            <a:avLst/>
          </a:prstGeom>
        </p:spPr>
      </p:pic>
      <p:sp>
        <p:nvSpPr>
          <p:cNvPr id="8" name="Content Placeholder 4"/>
          <p:cNvSpPr txBox="1">
            <a:spLocks/>
          </p:cNvSpPr>
          <p:nvPr/>
        </p:nvSpPr>
        <p:spPr>
          <a:xfrm>
            <a:off x="1484311" y="2438399"/>
            <a:ext cx="5830890" cy="3347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R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ISC (Reduced Instruction Set Computer)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Arhitectură pe 8 biți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Flash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14KB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RAM: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368B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EEPROM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256B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Frecven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ță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20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MHz</a:t>
            </a:r>
            <a:endParaRPr lang="ro-RO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Porturi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I/O: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5</a:t>
            </a:r>
            <a:endParaRPr lang="en-US" dirty="0" smtClean="0">
              <a:latin typeface="Mongolian Baiti" panose="03000500000000000000" pitchFamily="66" charset="0"/>
              <a:cs typeface="Mongolian Baiti" panose="03000500000000000000" pitchFamily="66" charset="0"/>
            </a:endParaRPr>
          </a:p>
          <a:p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3 </a:t>
            </a:r>
            <a:r>
              <a:rPr lang="en-US" dirty="0" err="1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Timere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– 1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-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16 bi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</a:t>
            </a:r>
          </a:p>
          <a:p>
            <a:pPr marL="0" indent="0">
              <a:buNone/>
            </a:pPr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                       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2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-</a:t>
            </a:r>
            <a:r>
              <a:rPr lang="en-US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 8 bi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ți</a:t>
            </a:r>
          </a:p>
          <a:p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ADC integrat</a:t>
            </a:r>
          </a:p>
          <a:p>
            <a:pPr marL="0" indent="0">
              <a:buFont typeface="Arial"/>
              <a:buNone/>
            </a:pP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51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3.4. Alegerea microcontrolerului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21236"/>
              </p:ext>
            </p:extLst>
          </p:nvPr>
        </p:nvGraphicFramePr>
        <p:xfrm>
          <a:off x="1484308" y="2438400"/>
          <a:ext cx="9911824" cy="2565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6190">
                  <a:extLst>
                    <a:ext uri="{9D8B030D-6E8A-4147-A177-3AD203B41FA5}">
                      <a16:colId xmlns:a16="http://schemas.microsoft.com/office/drawing/2014/main" val="3009518538"/>
                    </a:ext>
                  </a:extLst>
                </a:gridCol>
                <a:gridCol w="1360366">
                  <a:extLst>
                    <a:ext uri="{9D8B030D-6E8A-4147-A177-3AD203B41FA5}">
                      <a16:colId xmlns:a16="http://schemas.microsoft.com/office/drawing/2014/main" val="1422210650"/>
                    </a:ext>
                  </a:extLst>
                </a:gridCol>
                <a:gridCol w="1364484">
                  <a:extLst>
                    <a:ext uri="{9D8B030D-6E8A-4147-A177-3AD203B41FA5}">
                      <a16:colId xmlns:a16="http://schemas.microsoft.com/office/drawing/2014/main" val="4038726924"/>
                    </a:ext>
                  </a:extLst>
                </a:gridCol>
                <a:gridCol w="1346978">
                  <a:extLst>
                    <a:ext uri="{9D8B030D-6E8A-4147-A177-3AD203B41FA5}">
                      <a16:colId xmlns:a16="http://schemas.microsoft.com/office/drawing/2014/main" val="639744347"/>
                    </a:ext>
                  </a:extLst>
                </a:gridCol>
                <a:gridCol w="1509687">
                  <a:extLst>
                    <a:ext uri="{9D8B030D-6E8A-4147-A177-3AD203B41FA5}">
                      <a16:colId xmlns:a16="http://schemas.microsoft.com/office/drawing/2014/main" val="4017029910"/>
                    </a:ext>
                  </a:extLst>
                </a:gridCol>
                <a:gridCol w="1530283">
                  <a:extLst>
                    <a:ext uri="{9D8B030D-6E8A-4147-A177-3AD203B41FA5}">
                      <a16:colId xmlns:a16="http://schemas.microsoft.com/office/drawing/2014/main" val="3575580034"/>
                    </a:ext>
                  </a:extLst>
                </a:gridCol>
                <a:gridCol w="1203836">
                  <a:extLst>
                    <a:ext uri="{9D8B030D-6E8A-4147-A177-3AD203B41FA5}">
                      <a16:colId xmlns:a16="http://schemas.microsoft.com/office/drawing/2014/main" val="370119741"/>
                    </a:ext>
                  </a:extLst>
                </a:gridCol>
              </a:tblGrid>
              <a:tr h="513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Nume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Flash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RAM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ADC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Frecvență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Nr. Porturi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Preț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2299275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8051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4 KB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128 B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NU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12 MHz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4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2€ - 5€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6467873"/>
                  </a:ext>
                </a:extLst>
              </a:tr>
              <a:tr h="1026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ATmega328P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32 KB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2 KB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DA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16 MHz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3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2.5€ - 6€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608991"/>
                  </a:ext>
                </a:extLst>
              </a:tr>
              <a:tr h="51308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PIC16F877A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14 KB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368 B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DA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20 MHz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5</a:t>
                      </a:r>
                      <a:endParaRPr lang="en-US" sz="140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793240" algn="l"/>
                        </a:tabLst>
                      </a:pPr>
                      <a:r>
                        <a:rPr lang="ro-RO" sz="1600" dirty="0">
                          <a:effectLst/>
                          <a:latin typeface="Mongolian Baiti" panose="03000500000000000000" pitchFamily="66" charset="0"/>
                          <a:cs typeface="Mongolian Baiti" panose="03000500000000000000" pitchFamily="66" charset="0"/>
                        </a:rPr>
                        <a:t>6€ - 12€</a:t>
                      </a:r>
                      <a:endParaRPr lang="en-US" sz="1400" dirty="0">
                        <a:effectLst/>
                        <a:latin typeface="Mongolian Baiti" panose="03000500000000000000" pitchFamily="66" charset="0"/>
                        <a:ea typeface="Calibri" panose="020F0502020204030204" pitchFamily="34" charset="0"/>
                        <a:cs typeface="Mongolian Baiti" panose="03000500000000000000" pitchFamily="66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4045239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436938" y="38084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793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793875" algn="l"/>
              </a:tabLst>
            </a:pPr>
            <a:r>
              <a:rPr kumimoji="0" lang="ro-RO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endParaRPr kumimoji="0" lang="ro-RO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534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Mongolian Baiti" panose="03000500000000000000" pitchFamily="66" charset="0"/>
                <a:cs typeface="Mongolian Baiti" panose="03000500000000000000" pitchFamily="66" charset="0"/>
              </a:rPr>
              <a:t>4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. </a:t>
            </a:r>
            <a:r>
              <a:rPr lang="ro-RO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Bibliografie</a:t>
            </a:r>
            <a:endParaRPr lang="ro-RO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6" name="Content Placeholder 4"/>
          <p:cNvSpPr>
            <a:spLocks noGrp="1"/>
          </p:cNvSpPr>
          <p:nvPr>
            <p:ph idx="1"/>
          </p:nvPr>
        </p:nvSpPr>
        <p:spPr>
          <a:xfrm>
            <a:off x="1484310" y="2161309"/>
            <a:ext cx="10018713" cy="3629891"/>
          </a:xfrm>
        </p:spPr>
        <p:txBody>
          <a:bodyPr>
            <a:normAutofit fontScale="55000" lnSpcReduction="20000"/>
          </a:bodyPr>
          <a:lstStyle/>
          <a:p>
            <a:r>
              <a:rPr lang="ro-RO" dirty="0"/>
              <a:t>[1] Microchip Technology Inc., „Atmega328P Automotive Microcontrollers Datasheet”, Datasheet, </a:t>
            </a:r>
            <a:r>
              <a:rPr lang="ro-RO" u="sng" dirty="0">
                <a:hlinkClick r:id="rId2"/>
              </a:rPr>
              <a:t>https://ww1.microchip.com/downloads/en/DeviceDoc/Atmel-7810-Automotive-Microcontrollers-ATmega328P_Datasheet.pdf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[2] Microchip Technology Inc., „PIC16F87XA Data Sheet”, Datasheet, </a:t>
            </a:r>
            <a:r>
              <a:rPr lang="ro-RO" u="sng" dirty="0">
                <a:hlinkClick r:id="rId3"/>
              </a:rPr>
              <a:t>https://ww1.microchip.com/downloads/en/devicedoc/39582b.pdf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[3] Texas Instruments, „LM358 Dual Operational Amplifiers Datasheet”, Datasheet, </a:t>
            </a:r>
            <a:r>
              <a:rPr lang="ro-RO" u="sng" dirty="0">
                <a:hlinkClick r:id="rId4"/>
              </a:rPr>
              <a:t>https://www.ti.com/lit/ds/symlink/lm358.pdf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[4] Texas Instruments, „Basic Calculation of a Buck Converter's Power Stage”, notă de aplicație, </a:t>
            </a:r>
            <a:r>
              <a:rPr lang="ro-RO" u="sng" dirty="0">
                <a:hlinkClick r:id="rId5"/>
              </a:rPr>
              <a:t>https://www.ti.com/lit/an/slva477b/slva477b.pdf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[5] ON Semiconductor, „TIP31A (NPN) Complementary Silicon Plastic Power Transistors”, Datasheet</a:t>
            </a:r>
            <a:r>
              <a:rPr lang="ro-RO" dirty="0" smtClean="0"/>
              <a:t>,</a:t>
            </a:r>
            <a:r>
              <a:rPr lang="ro-RO" dirty="0"/>
              <a:t> </a:t>
            </a:r>
            <a:r>
              <a:rPr lang="ro-RO" dirty="0" smtClean="0"/>
              <a:t> </a:t>
            </a:r>
            <a:r>
              <a:rPr lang="ro-RO" u="sng" dirty="0">
                <a:hlinkClick r:id="rId6"/>
              </a:rPr>
              <a:t>https://www.onsemi.com/download/data-sheet/pdf/tip31a-d.pdf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[6] ON Semiconductor, „TIP32C (PNP) Complementary Silicon Plastic Power Transistors”, Datasheet</a:t>
            </a:r>
            <a:r>
              <a:rPr lang="ro-RO" dirty="0" smtClean="0"/>
              <a:t>,</a:t>
            </a:r>
            <a:r>
              <a:rPr lang="ro-RO" dirty="0"/>
              <a:t> </a:t>
            </a:r>
            <a:r>
              <a:rPr lang="ro-RO" dirty="0" smtClean="0"/>
              <a:t> </a:t>
            </a:r>
            <a:r>
              <a:rPr lang="ro-RO" u="sng" dirty="0">
                <a:hlinkClick r:id="rId7"/>
              </a:rPr>
              <a:t>https://www.onsemi.com/pdf/datasheet/tip32c-d.pdf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[7] Taiwan Semiconductor, „1N5222B Zener Diodes Datasheet”, Datasheet</a:t>
            </a:r>
            <a:r>
              <a:rPr lang="ro-RO" dirty="0" smtClean="0"/>
              <a:t>, </a:t>
            </a:r>
            <a:r>
              <a:rPr lang="ro-RO" u="sng" dirty="0">
                <a:hlinkClick r:id="rId8"/>
              </a:rPr>
              <a:t>https://www.alldatasheet.com/html-pdf/706069/TSC/1N5222B/54/1/1N5222B.html</a:t>
            </a:r>
            <a:r>
              <a:rPr lang="ro-RO" dirty="0"/>
              <a:t>.</a:t>
            </a:r>
            <a:endParaRPr lang="en-US" dirty="0"/>
          </a:p>
          <a:p>
            <a:r>
              <a:rPr lang="ro-RO" dirty="0"/>
              <a:t>[8] Microchip Technology Inc., „AT89S52 – 8-bit Microcontroller with 8K Bytes In-System Programmable Flash”, </a:t>
            </a:r>
            <a:r>
              <a:rPr lang="ro-RO" dirty="0" smtClean="0"/>
              <a:t>Datasheet,</a:t>
            </a:r>
            <a:r>
              <a:rPr lang="ro-RO" dirty="0"/>
              <a:t> </a:t>
            </a:r>
            <a:r>
              <a:rPr lang="ro-RO" u="sng" dirty="0" smtClean="0">
                <a:hlinkClick r:id="rId9"/>
              </a:rPr>
              <a:t>https</a:t>
            </a:r>
            <a:r>
              <a:rPr lang="ro-RO" u="sng" dirty="0">
                <a:hlinkClick r:id="rId9"/>
              </a:rPr>
              <a:t>://ww1.microchip.com/downloads/en/DeviceDoc/doc4113.pdf</a:t>
            </a:r>
            <a:r>
              <a:rPr lang="ro-RO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21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o-RO" sz="6000" b="1" dirty="0" smtClean="0">
                <a:latin typeface="Mongolian Baiti" panose="03000500000000000000" pitchFamily="66" charset="0"/>
                <a:cs typeface="Mongolian Baiti" panose="03000500000000000000" pitchFamily="66" charset="0"/>
              </a:rPr>
              <a:t>Vă mulțumesc pentru atenție!</a:t>
            </a:r>
            <a:endParaRPr lang="en-US" sz="6000" b="1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3166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171</TotalTime>
  <Words>517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Corbel</vt:lpstr>
      <vt:lpstr>Mongolian Baiti</vt:lpstr>
      <vt:lpstr>Times New Roman</vt:lpstr>
      <vt:lpstr>Parallax</vt:lpstr>
      <vt:lpstr>Etaje de Alimentare și Analiza Microcontrolerelor</vt:lpstr>
      <vt:lpstr>Cuprins</vt:lpstr>
      <vt:lpstr>1. Cerința proiectului</vt:lpstr>
      <vt:lpstr>2. Etaje de alimentare: Topologii</vt:lpstr>
      <vt:lpstr>2.1. Stabilizatorul liniar</vt:lpstr>
      <vt:lpstr>2.1. Stabilizatorul liniar</vt:lpstr>
      <vt:lpstr>2.2. Convertor în comutație - Buck</vt:lpstr>
      <vt:lpstr>2.3. Alegerea topologiei optime</vt:lpstr>
      <vt:lpstr>3. Analiza microcontrolerelor</vt:lpstr>
      <vt:lpstr>3.1. Intel 8051</vt:lpstr>
      <vt:lpstr>3.2. ATmega328P </vt:lpstr>
      <vt:lpstr>3.3. PIC16F877A</vt:lpstr>
      <vt:lpstr>3.4. Alegerea microcontrolerului</vt:lpstr>
      <vt:lpstr>4. Bibliografie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de achiziție, condiționare și afișare a temperaturii</dc:title>
  <dc:creator>Silviu</dc:creator>
  <cp:lastModifiedBy>Silviu</cp:lastModifiedBy>
  <cp:revision>20</cp:revision>
  <dcterms:created xsi:type="dcterms:W3CDTF">2026-04-01T14:42:38Z</dcterms:created>
  <dcterms:modified xsi:type="dcterms:W3CDTF">2026-04-29T16:38:32Z</dcterms:modified>
</cp:coreProperties>
</file>